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69" d="100"/>
          <a:sy n="69" d="100"/>
        </p:scale>
        <p:origin x="96" y="60"/>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28/05/2026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28/05/2026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sv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the Compact Models and Circuit Model</a:t>
            </a:r>
          </a:p>
          <a:p>
            <a:pPr marL="342900" indent="-342900" algn="just">
              <a:buFont typeface="Arial" panose="020B0604020202020204" pitchFamily="34" charset="0"/>
              <a:buChar char="•"/>
            </a:pPr>
            <a:r>
              <a:rPr lang="en-US" sz="2000" dirty="0"/>
              <a:t>Describe how to </a:t>
            </a:r>
            <a:r>
              <a:rPr lang="es-ES" sz="2000" dirty="0" err="1"/>
              <a:t>simulate</a:t>
            </a:r>
            <a:r>
              <a:rPr lang="es-ES" sz="2000" dirty="0"/>
              <a:t> </a:t>
            </a:r>
            <a:r>
              <a:rPr lang="es-ES" sz="2000" dirty="0" err="1"/>
              <a:t>usin</a:t>
            </a:r>
            <a:r>
              <a:rPr lang="es-ES" sz="2000" dirty="0"/>
              <a:t> SAX </a:t>
            </a:r>
            <a:r>
              <a:rPr lang="es-ES" sz="2000" dirty="0" err="1"/>
              <a:t>library</a:t>
            </a:r>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b="1" dirty="0"/>
              <a:t>ALL EXAMPLE #1: </a:t>
            </a:r>
          </a:p>
          <a:p>
            <a:pPr marL="0" indent="0" algn="just">
              <a:buNone/>
            </a:pPr>
            <a:r>
              <a:rPr lang="en-US" dirty="0" err="1"/>
              <a:t>wvl</a:t>
            </a:r>
            <a:r>
              <a:rPr lang="en-US" dirty="0"/>
              <a:t> [1500-1600] step 0.001</a:t>
            </a:r>
          </a:p>
          <a:p>
            <a:pPr marL="0" indent="0" algn="just">
              <a:buNone/>
            </a:pPr>
            <a:r>
              <a:rPr lang="en-US" dirty="0"/>
              <a:t>dL = 0</a:t>
            </a:r>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89565"/>
            <a:ext cx="11199971" cy="52322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Con </a:t>
            </a:r>
            <a:r>
              <a:rPr lang="es-ES" sz="1400" dirty="0" err="1"/>
              <a:t>dL</a:t>
            </a:r>
            <a:r>
              <a:rPr lang="es-ES" sz="1400" dirty="0"/>
              <a:t>=0, el MZI está perfectamente balanceado. Toda la potencia óptica sale por el puerto out1 (H01=1) y no sale nada por out0 (H00≈0). No se observa ningún patrón de interferencia ya que ambos brazos tienen exactamente la misma longitud, por lo que no hay diferencia de fase entre ellos.</a:t>
            </a:r>
            <a:endParaRPr lang="en-US" sz="14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458E6444-4F6A-F26F-7B47-8D61D3DAB355}"/>
              </a:ext>
            </a:extLst>
          </p:cNvPr>
          <p:cNvPicPr>
            <a:picLocks noChangeAspect="1"/>
          </p:cNvPicPr>
          <p:nvPr/>
        </p:nvPicPr>
        <p:blipFill>
          <a:blip r:embed="rId4"/>
          <a:stretch>
            <a:fillRect/>
          </a:stretch>
        </p:blipFill>
        <p:spPr>
          <a:xfrm>
            <a:off x="838200" y="1737887"/>
            <a:ext cx="4759854" cy="266700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a:p>
            <a:pPr algn="just"/>
            <a:endParaRPr lang="en-US" sz="1600" dirty="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9" y="1556991"/>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dirty="0"/>
              <a:t>HINTS</a:t>
            </a:r>
            <a:r>
              <a:rPr lang="en-US" b="1" dirty="0"/>
              <a:t>: </a:t>
            </a:r>
          </a:p>
          <a:p>
            <a:pPr marL="0" indent="0" algn="just">
              <a:buNone/>
            </a:pPr>
            <a:r>
              <a:rPr lang="en-US" dirty="0" err="1"/>
              <a:t>wvl</a:t>
            </a:r>
            <a:r>
              <a:rPr lang="en-US" dirty="0"/>
              <a:t> [1500-1600] step 0.001</a:t>
            </a:r>
          </a:p>
          <a:p>
            <a:pPr algn="just"/>
            <a:r>
              <a:rPr lang="en-US" dirty="0"/>
              <a:t>dL = </a:t>
            </a:r>
            <a:r>
              <a:rPr lang="en-US" dirty="0">
                <a:latin typeface="Arial" panose="020B0604020202020204" pitchFamily="34" charset="0"/>
                <a:cs typeface="Arial" panose="020B0604020202020204" pitchFamily="34" charset="0"/>
                <a:sym typeface="Wingdings" pitchFamily="2" charset="2"/>
              </a:rPr>
              <a:t>100 µm</a:t>
            </a:r>
            <a:endParaRPr lang="en-US" dirty="0"/>
          </a:p>
          <a:p>
            <a:pPr marL="0" indent="0" algn="just">
              <a:buNone/>
            </a:pPr>
            <a:r>
              <a:rPr lang="en-US" dirty="0"/>
              <a:t>Kin = Kout = 0.5 for all </a:t>
            </a:r>
            <a:r>
              <a:rPr lang="en-US" dirty="0" err="1"/>
              <a:t>wvl</a:t>
            </a:r>
            <a:endParaRPr lang="en-US"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0C41089-061E-9B39-3904-6F31AFE073B8}"/>
              </a:ext>
            </a:extLst>
          </p:cNvPr>
          <p:cNvSpPr txBox="1"/>
          <p:nvPr/>
        </p:nvSpPr>
        <p:spPr>
          <a:xfrm>
            <a:off x="609441" y="4860334"/>
            <a:ext cx="11199971" cy="92333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Con </a:t>
            </a:r>
            <a:r>
              <a:rPr lang="es-ES" sz="1400" dirty="0" err="1"/>
              <a:t>dL</a:t>
            </a:r>
            <a:r>
              <a:rPr lang="es-ES" sz="1400" dirty="0"/>
              <a:t>=100 µm el MZI está desbalanceado y se observa un patrón de interferencia periódico. H00 y H01 son complementarios: cuando uno está en máximo el otro está en mínimo. El FSR se mide en la gráfica como la distancia entre dos mínimos consecutivos, siendo aproximadamente 12 nm. Esto se verifica con la fórmula: FSR = λ²/(ng × ΔL) = 1.55²/(2.0 × 100) = 12.0 nm. A mayor diferencia de longitud entre brazos, menor es el FSR</a:t>
            </a:r>
            <a:endParaRPr lang="en-US" sz="14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95B976F-6522-EA3D-1323-5C97E9F88EDF}"/>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F92DCCC3-2914-3086-2502-523E75DC387D}"/>
              </a:ext>
            </a:extLst>
          </p:cNvPr>
          <p:cNvPicPr>
            <a:picLocks noChangeAspect="1"/>
          </p:cNvPicPr>
          <p:nvPr/>
        </p:nvPicPr>
        <p:blipFill>
          <a:blip r:embed="rId4"/>
          <a:stretch>
            <a:fillRect/>
          </a:stretch>
        </p:blipFill>
        <p:spPr>
          <a:xfrm>
            <a:off x="885119" y="1653665"/>
            <a:ext cx="4935361" cy="2702251"/>
          </a:xfrm>
          <a:prstGeom prst="rect">
            <a:avLst/>
          </a:prstGeom>
        </p:spPr>
      </p:pic>
      <p:pic>
        <p:nvPicPr>
          <p:cNvPr id="12" name="Imagen 11">
            <a:extLst>
              <a:ext uri="{FF2B5EF4-FFF2-40B4-BE49-F238E27FC236}">
                <a16:creationId xmlns:a16="http://schemas.microsoft.com/office/drawing/2014/main" id="{F2DC7509-102A-A40F-99CA-319FF58EC1ED}"/>
              </a:ext>
            </a:extLst>
          </p:cNvPr>
          <p:cNvPicPr>
            <a:picLocks noChangeAspect="1"/>
          </p:cNvPicPr>
          <p:nvPr/>
        </p:nvPicPr>
        <p:blipFill>
          <a:blip r:embed="rId5"/>
          <a:stretch>
            <a:fillRect/>
          </a:stretch>
        </p:blipFill>
        <p:spPr>
          <a:xfrm>
            <a:off x="7162800" y="2707540"/>
            <a:ext cx="2642703" cy="1813017"/>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923330"/>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a:latin typeface="Arial" panose="020B0604020202020204" pitchFamily="34" charset="0"/>
                <a:cs typeface="Arial" panose="020B0604020202020204" pitchFamily="34" charset="0"/>
              </a:rPr>
              <a:t>Comment results:</a:t>
            </a:r>
          </a:p>
          <a:p>
            <a:pPr algn="just"/>
            <a:r>
              <a:rPr lang="es-ES" sz="1400" dirty="0"/>
              <a:t>Para obtener un FSR = 10 nm a λ = 1550 nm, se calcula la diferencia de longitud necesaria mediante la fórmula: ΔL = λ²/(ng × FSR) = 1.55²/(2.0 × 0.010) = 120.25 µm. La gráfica confirma que el FSR obtenido es aproximadamente 10 nm, lo que valida el diseño.</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475114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9525000" y="1418373"/>
            <a:ext cx="2285560"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dirty="0">
                <a:solidFill>
                  <a:schemeClr val="tx1"/>
                </a:solidFill>
                <a:latin typeface="Arial" panose="020B0604020202020204" pitchFamily="34" charset="0"/>
                <a:cs typeface="Arial" panose="020B0604020202020204" pitchFamily="34" charset="0"/>
              </a:rPr>
              <a:t>Hints:</a:t>
            </a:r>
            <a:endParaRPr lang="en-US" dirty="0">
              <a:solidFill>
                <a:schemeClr val="tx1"/>
              </a:solidFill>
              <a:latin typeface="Arial" panose="020B0604020202020204" pitchFamily="34" charset="0"/>
              <a:cs typeface="Arial" panose="020B0604020202020204" pitchFamily="34" charset="0"/>
            </a:endParaRPr>
          </a:p>
          <a:p>
            <a:pPr algn="just"/>
            <a:r>
              <a:rPr lang="en-US" dirty="0" err="1">
                <a:solidFill>
                  <a:schemeClr val="tx1"/>
                </a:solidFill>
                <a:latin typeface="Arial" panose="020B0604020202020204" pitchFamily="34" charset="0"/>
                <a:cs typeface="Arial" panose="020B0604020202020204" pitchFamily="34" charset="0"/>
                <a:sym typeface="Wingdings" pitchFamily="2" charset="2"/>
              </a:rPr>
              <a:t>wvl</a:t>
            </a:r>
            <a:r>
              <a:rPr lang="en-US" dirty="0">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dL = ? µm </a:t>
            </a:r>
            <a:r>
              <a:rPr lang="en-US" b="1" dirty="0">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dirty="0">
                <a:solidFill>
                  <a:schemeClr val="tx1"/>
                </a:solidFill>
                <a:latin typeface="Arial" panose="020B0604020202020204" pitchFamily="34" charset="0"/>
                <a:cs typeface="Arial" panose="020B0604020202020204" pitchFamily="34" charset="0"/>
                <a:sym typeface="Wingdings" pitchFamily="2" charset="2"/>
              </a:rPr>
              <a:t>Ka = </a:t>
            </a:r>
            <a:r>
              <a:rPr lang="en-US" dirty="0" err="1">
                <a:solidFill>
                  <a:schemeClr val="tx1"/>
                </a:solidFill>
                <a:latin typeface="Arial" panose="020B0604020202020204" pitchFamily="34" charset="0"/>
                <a:cs typeface="Arial" panose="020B0604020202020204" pitchFamily="34" charset="0"/>
                <a:sym typeface="Wingdings" pitchFamily="2" charset="2"/>
              </a:rPr>
              <a:t>Kb</a:t>
            </a:r>
            <a:r>
              <a:rPr lang="en-US" dirty="0">
                <a:solidFill>
                  <a:schemeClr val="tx1"/>
                </a:solidFill>
                <a:latin typeface="Arial" panose="020B0604020202020204" pitchFamily="34" charset="0"/>
                <a:cs typeface="Arial" panose="020B0604020202020204" pitchFamily="34" charset="0"/>
                <a:sym typeface="Wingdings" pitchFamily="2" charset="2"/>
              </a:rPr>
              <a:t> = 0.5 for all </a:t>
            </a:r>
            <a:r>
              <a:rPr lang="en-US" dirty="0" err="1">
                <a:solidFill>
                  <a:schemeClr val="tx1"/>
                </a:solidFill>
                <a:latin typeface="Arial" panose="020B0604020202020204" pitchFamily="34" charset="0"/>
                <a:cs typeface="Arial" panose="020B0604020202020204" pitchFamily="34" charset="0"/>
                <a:sym typeface="Wingdings" pitchFamily="2" charset="2"/>
              </a:rPr>
              <a:t>wvl</a:t>
            </a:r>
            <a:endParaRPr lang="en-US" dirty="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5538585" y="1486340"/>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609600" y="1538412"/>
            <a:ext cx="2385399" cy="2862322"/>
          </a:xfrm>
          <a:prstGeom prst="rect">
            <a:avLst/>
          </a:prstGeom>
          <a:noFill/>
        </p:spPr>
        <p:txBody>
          <a:bodyPr wrap="square" rtlCol="0">
            <a:spAutoFit/>
          </a:bodyPr>
          <a:lstStyle/>
          <a:p>
            <a:r>
              <a:rPr lang="es-ES" sz="2000" i="1" dirty="0"/>
              <a:t>FSR = </a:t>
            </a:r>
            <a:r>
              <a:rPr lang="el-GR" sz="2000" i="1" dirty="0"/>
              <a:t>λ²/(</a:t>
            </a:r>
            <a:r>
              <a:rPr lang="es-ES" sz="2000" i="1" dirty="0"/>
              <a:t>ng × </a:t>
            </a:r>
            <a:r>
              <a:rPr lang="el-GR" sz="2000" i="1" dirty="0"/>
              <a:t>Δ</a:t>
            </a:r>
            <a:r>
              <a:rPr lang="es-ES" sz="2000" i="1" dirty="0"/>
              <a:t>L)</a:t>
            </a:r>
            <a:endParaRPr lang="es-ES" sz="2000" dirty="0"/>
          </a:p>
          <a:p>
            <a:r>
              <a:rPr lang="el-GR" sz="2000" i="1" dirty="0"/>
              <a:t>Δ</a:t>
            </a:r>
            <a:r>
              <a:rPr lang="es-ES" sz="2000" i="1" dirty="0"/>
              <a:t>L = </a:t>
            </a:r>
            <a:r>
              <a:rPr lang="el-GR" sz="2000" i="1" dirty="0"/>
              <a:t>λ²/(</a:t>
            </a:r>
            <a:r>
              <a:rPr lang="es-ES" sz="2000" i="1" dirty="0"/>
              <a:t>ng × FSR) = 1.55²/(2.0 × 0.010) = 2.4025/0.02 = 120.25 µm</a:t>
            </a:r>
            <a:endParaRPr lang="es-ES" sz="2000" dirty="0"/>
          </a:p>
          <a:p>
            <a:r>
              <a:rPr lang="es-ES" sz="2000" i="1" dirty="0"/>
              <a:t>Con ng = 2.0, </a:t>
            </a:r>
            <a:r>
              <a:rPr lang="el-GR" sz="2000" i="1" dirty="0"/>
              <a:t>λ = 1.55 µ</a:t>
            </a:r>
            <a:r>
              <a:rPr lang="es-ES" sz="2000" i="1" dirty="0"/>
              <a:t>m y FSR objetivo = 10 nm → </a:t>
            </a:r>
            <a:r>
              <a:rPr lang="el-GR" sz="2000" i="1" dirty="0"/>
              <a:t>Δ</a:t>
            </a:r>
            <a:r>
              <a:rPr lang="es-ES" sz="2000" i="1" dirty="0"/>
              <a:t>L = 120.25 µm</a:t>
            </a:r>
            <a:endParaRPr lang="es-ES" sz="2000" dirty="0"/>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713589" y="255002"/>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#2 – MZI Design</a:t>
            </a:r>
          </a:p>
          <a:p>
            <a:pPr marL="12700">
              <a:spcBef>
                <a:spcPts val="100"/>
              </a:spcBef>
            </a:pPr>
            <a:r>
              <a:rPr lang="en-US" b="0" kern="0" spc="-5" dirty="0">
                <a:latin typeface="+mj-lt"/>
                <a:cs typeface="Lucida Sans"/>
              </a:rPr>
              <a:t>Design a MZI with FSR = 10 nm at 1550 nm</a:t>
            </a:r>
            <a:br>
              <a:rPr lang="en-US" b="0" kern="0" spc="-5" dirty="0">
                <a:latin typeface="+mj-lt"/>
                <a:cs typeface="Lucida Sans"/>
              </a:rPr>
            </a:br>
            <a:endParaRPr lang="en-US" b="0" kern="0" dirty="0">
              <a:latin typeface="+mj-lt"/>
              <a:cs typeface="Lucida Sans"/>
            </a:endParaRPr>
          </a:p>
        </p:txBody>
      </p:sp>
      <p:pic>
        <p:nvPicPr>
          <p:cNvPr id="4" name="Imagen 3">
            <a:extLst>
              <a:ext uri="{FF2B5EF4-FFF2-40B4-BE49-F238E27FC236}">
                <a16:creationId xmlns:a16="http://schemas.microsoft.com/office/drawing/2014/main" id="{35994862-9D4F-F0AB-B87E-69202DCC3539}"/>
              </a:ext>
            </a:extLst>
          </p:cNvPr>
          <p:cNvPicPr>
            <a:picLocks noChangeAspect="1"/>
          </p:cNvPicPr>
          <p:nvPr/>
        </p:nvPicPr>
        <p:blipFill>
          <a:blip r:embed="rId3"/>
          <a:stretch>
            <a:fillRect/>
          </a:stretch>
        </p:blipFill>
        <p:spPr>
          <a:xfrm>
            <a:off x="5688177" y="1753023"/>
            <a:ext cx="3510815" cy="2772662"/>
          </a:xfrm>
          <a:prstGeom prst="rect">
            <a:avLst/>
          </a:prstGeom>
        </p:spPr>
      </p:pic>
      <p:pic>
        <p:nvPicPr>
          <p:cNvPr id="7" name="Imagen 6">
            <a:extLst>
              <a:ext uri="{FF2B5EF4-FFF2-40B4-BE49-F238E27FC236}">
                <a16:creationId xmlns:a16="http://schemas.microsoft.com/office/drawing/2014/main" id="{58B85D96-031F-C8EB-60B8-7E5F6BC5D74E}"/>
              </a:ext>
            </a:extLst>
          </p:cNvPr>
          <p:cNvPicPr>
            <a:picLocks noChangeAspect="1"/>
          </p:cNvPicPr>
          <p:nvPr/>
        </p:nvPicPr>
        <p:blipFill>
          <a:blip r:embed="rId4"/>
          <a:stretch>
            <a:fillRect/>
          </a:stretch>
        </p:blipFill>
        <p:spPr>
          <a:xfrm>
            <a:off x="2887702" y="2106744"/>
            <a:ext cx="3208298" cy="784928"/>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#3 – Delay imbalance with loss</a:t>
            </a:r>
          </a:p>
          <a:p>
            <a:pPr marL="12700">
              <a:spcBef>
                <a:spcPts val="100"/>
              </a:spcBef>
            </a:pPr>
            <a:r>
              <a:rPr lang="en-US" b="0" kern="0" spc="-5" dirty="0">
                <a:latin typeface="+mj-lt"/>
                <a:cs typeface="Lucida Sans"/>
              </a:rPr>
              <a:t>Fringe visibility</a:t>
            </a:r>
            <a:endParaRPr lang="en-US"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954107"/>
          </a:xfrm>
          <a:prstGeom prst="rect">
            <a:avLst/>
          </a:prstGeom>
          <a:solidFill>
            <a:schemeClr val="bg1">
              <a:lumMod val="95000"/>
            </a:schemeClr>
          </a:solidFill>
          <a:ln w="28575">
            <a:solidFill>
              <a:srgbClr val="E0700D"/>
            </a:solidFill>
          </a:ln>
        </p:spPr>
        <p:txBody>
          <a:bodyPr wrap="square" rtlCol="0">
            <a:spAutoFit/>
          </a:bodyPr>
          <a:lstStyle/>
          <a:p>
            <a:r>
              <a:rPr lang="es-ES" sz="1400" i="1" dirty="0"/>
              <a:t>Caso 1 (Ka=Kb=0.5): Sí hay patrón de interferencia pero con baja visibilidad por las pérdidas del brazo largo. ER = 2.3 dB.</a:t>
            </a:r>
            <a:endParaRPr lang="es-ES" sz="1400" dirty="0"/>
          </a:p>
          <a:p>
            <a:r>
              <a:rPr lang="es-ES" sz="1400" i="1" dirty="0"/>
              <a:t>Caso 2 (Ka=0.1, Kb=0.5): No hay patrón de interferencia apreciable. Al reducir Ka las amplitudes de ambos brazos son muy distintas y la visibilidad es mínima. ER = 0 dB.</a:t>
            </a:r>
            <a:endParaRPr lang="es-ES" sz="1400" dirty="0"/>
          </a:p>
          <a:p>
            <a:r>
              <a:rPr lang="es-ES" sz="1400" i="1" dirty="0"/>
              <a:t>Extra: Para igualar las pérdidas del brazo largo (=22.4 dB) se necesita Ka = 0.076</a:t>
            </a:r>
            <a:endParaRPr lang="es-ES" sz="1400" dirty="0"/>
          </a:p>
        </p:txBody>
      </p:sp>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2</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endParaRPr>
          </a:p>
        </p:txBody>
      </p:sp>
      <p:pic>
        <p:nvPicPr>
          <p:cNvPr id="12" name="Imagen 11">
            <a:extLst>
              <a:ext uri="{FF2B5EF4-FFF2-40B4-BE49-F238E27FC236}">
                <a16:creationId xmlns:a16="http://schemas.microsoft.com/office/drawing/2014/main" id="{E689BCB1-5624-D838-5224-BF4E93717B2F}"/>
              </a:ext>
            </a:extLst>
          </p:cNvPr>
          <p:cNvPicPr>
            <a:picLocks noChangeAspect="1"/>
          </p:cNvPicPr>
          <p:nvPr/>
        </p:nvPicPr>
        <p:blipFill>
          <a:blip r:embed="rId3"/>
          <a:stretch>
            <a:fillRect/>
          </a:stretch>
        </p:blipFill>
        <p:spPr>
          <a:xfrm>
            <a:off x="943490" y="1595006"/>
            <a:ext cx="4664471" cy="2846118"/>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954107"/>
          </a:xfrm>
          <a:prstGeom prst="rect">
            <a:avLst/>
          </a:prstGeom>
          <a:solidFill>
            <a:schemeClr val="bg1">
              <a:lumMod val="95000"/>
            </a:schemeClr>
          </a:solidFill>
          <a:ln w="28575">
            <a:solidFill>
              <a:srgbClr val="E0700D"/>
            </a:solidFill>
          </a:ln>
        </p:spPr>
        <p:txBody>
          <a:bodyPr wrap="square" rtlCol="0">
            <a:spAutoFit/>
          </a:bodyPr>
          <a:lstStyle/>
          <a:p>
            <a:r>
              <a:rPr lang="es-ES" sz="1400" i="1" dirty="0"/>
              <a:t>La función de transferencia del ring </a:t>
            </a:r>
            <a:r>
              <a:rPr lang="es-ES" sz="1400" i="1" dirty="0" err="1"/>
              <a:t>resonator</a:t>
            </a:r>
            <a:r>
              <a:rPr lang="es-ES" sz="1400" i="1" dirty="0"/>
              <a:t> muestra resonancias periódicas con mínimos pronunciados donde la luz queda atrapada en el anillo. El FSR es la distancia entre dos resonancias consecutivas, aproximadamente 24 nm.</a:t>
            </a:r>
            <a:endParaRPr lang="es-ES" sz="1400" dirty="0"/>
          </a:p>
          <a:p>
            <a:r>
              <a:rPr lang="es-ES" sz="1400" i="1" dirty="0"/>
              <a:t>Cálculo numérico: FSR = λ²/(ng × </a:t>
            </a:r>
            <a:r>
              <a:rPr lang="es-ES" sz="1400" i="1" dirty="0" err="1"/>
              <a:t>L_ring</a:t>
            </a:r>
            <a:r>
              <a:rPr lang="es-ES" sz="1400" i="1" dirty="0"/>
              <a:t>) = 1.55²/(2.0 × 50) = 24.0 nm, lo que coincide con la gráfica.</a:t>
            </a:r>
            <a:endParaRPr lang="es-ES" sz="1400" dirty="0"/>
          </a:p>
          <a:p>
            <a:r>
              <a:rPr lang="es-ES" sz="1400" i="1" dirty="0"/>
              <a:t>El FSR es inversamente proporcional al perímetro del anillo: a mayor perímetro, menor FSR.</a:t>
            </a:r>
            <a:endParaRPr lang="en-US" sz="14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B811A5F9-C0B5-716C-70FB-9472E1BC2CD3}"/>
              </a:ext>
            </a:extLst>
          </p:cNvPr>
          <p:cNvSpPr/>
          <p:nvPr/>
        </p:nvSpPr>
        <p:spPr>
          <a:xfrm>
            <a:off x="611030" y="1418373"/>
            <a:ext cx="777097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p>
          <a:p>
            <a:pPr algn="just"/>
            <a:endParaRPr lang="en-US" sz="1200" b="1"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None </a:t>
            </a:r>
            <a:r>
              <a:rPr lang="en-US" sz="1200" dirty="0">
                <a:solidFill>
                  <a:schemeClr val="tx1"/>
                </a:solidFill>
                <a:latin typeface="Arial" panose="020B0604020202020204" pitchFamily="34" charset="0"/>
                <a:cs typeface="Arial" panose="020B0604020202020204" pitchFamily="34" charset="0"/>
                <a:sym typeface="Wingdings" pitchFamily="2" charset="2"/>
              </a:rPr>
              <a:t> </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#4 – Ring Resonator</a:t>
            </a:r>
          </a:p>
          <a:p>
            <a:pPr marL="12700">
              <a:spcBef>
                <a:spcPts val="100"/>
              </a:spcBef>
            </a:pPr>
            <a:r>
              <a:rPr lang="en-US" b="0" kern="0" spc="-5" dirty="0">
                <a:latin typeface="+mj-lt"/>
                <a:cs typeface="Lucida Sans"/>
              </a:rPr>
              <a:t>Single ring resonator – most simple case Constant coupler K (no wavelength variation)</a:t>
            </a:r>
          </a:p>
        </p:txBody>
      </p:sp>
      <p:pic>
        <p:nvPicPr>
          <p:cNvPr id="4" name="Imagen 3">
            <a:extLst>
              <a:ext uri="{FF2B5EF4-FFF2-40B4-BE49-F238E27FC236}">
                <a16:creationId xmlns:a16="http://schemas.microsoft.com/office/drawing/2014/main" id="{B2948E93-223D-2900-BC6D-5FE498D9E4AC}"/>
              </a:ext>
            </a:extLst>
          </p:cNvPr>
          <p:cNvPicPr>
            <a:picLocks noChangeAspect="1"/>
          </p:cNvPicPr>
          <p:nvPr/>
        </p:nvPicPr>
        <p:blipFill>
          <a:blip r:embed="rId3"/>
          <a:stretch>
            <a:fillRect/>
          </a:stretch>
        </p:blipFill>
        <p:spPr>
          <a:xfrm>
            <a:off x="1981200" y="1523421"/>
            <a:ext cx="5181600" cy="2972712"/>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11029" y="4860335"/>
            <a:ext cx="11199530" cy="707886"/>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La función de transferencia muestra resonancias periódicas cada 15 nm. El ER = 20·log10(1.0/0.18) ≈ 15 dB. Para conseguir acoplamiento crítico hay que ajustar K hasta que las pérdidas del anillo igualen el coeficiente de acoplamiento, en ese punto </a:t>
            </a:r>
            <a:r>
              <a:rPr lang="es-ES" sz="1400" dirty="0" err="1"/>
              <a:t>T_min</a:t>
            </a:r>
            <a:r>
              <a:rPr lang="es-ES" sz="1400" dirty="0"/>
              <a:t> = 0 y el ER es máximo.</a:t>
            </a:r>
            <a:endParaRPr lang="en-US" sz="14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dirty="0">
                <a:solidFill>
                  <a:schemeClr val="tx1"/>
                </a:solidFill>
                <a:latin typeface="Arial" panose="020B0604020202020204" pitchFamily="34" charset="0"/>
                <a:cs typeface="Arial" panose="020B0604020202020204" pitchFamily="34" charset="0"/>
              </a:rPr>
              <a:t>Hints:</a:t>
            </a:r>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dirty="0">
              <a:solidFill>
                <a:schemeClr val="tx1"/>
              </a:solidFill>
              <a:latin typeface="Arial" panose="020B0604020202020204" pitchFamily="34" charset="0"/>
              <a:cs typeface="Arial" panose="020B0604020202020204" pitchFamily="34" charset="0"/>
            </a:endParaRPr>
          </a:p>
          <a:p>
            <a:pPr algn="just"/>
            <a:r>
              <a:rPr lang="en-US" sz="1200" dirty="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a:p>
            <a:pPr algn="just"/>
            <a:endParaRPr lang="en-US" sz="1200" dirty="0">
              <a:solidFill>
                <a:schemeClr val="tx1"/>
              </a:solidFill>
              <a:latin typeface="Arial" panose="020B0604020202020204" pitchFamily="34" charset="0"/>
              <a:cs typeface="Arial" panose="020B0604020202020204" pitchFamily="34" charset="0"/>
            </a:endParaRPr>
          </a:p>
        </p:txBody>
      </p:sp>
      <p:sp>
        <p:nvSpPr>
          <p:cNvPr id="13" name="Rectángulo 12">
            <a:extLst>
              <a:ext uri="{FF2B5EF4-FFF2-40B4-BE49-F238E27FC236}">
                <a16:creationId xmlns:a16="http://schemas.microsoft.com/office/drawing/2014/main" id="{03798D61-1E16-8473-BDCE-1D97F95EF7BE}"/>
              </a:ext>
            </a:extLst>
          </p:cNvPr>
          <p:cNvSpPr/>
          <p:nvPr/>
        </p:nvSpPr>
        <p:spPr>
          <a:xfrm>
            <a:off x="685800" y="1418373"/>
            <a:ext cx="77724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#5 – Ring resonator design</a:t>
            </a:r>
          </a:p>
          <a:p>
            <a:pPr marL="12700">
              <a:spcBef>
                <a:spcPts val="100"/>
              </a:spcBef>
            </a:pPr>
            <a:r>
              <a:rPr lang="en-US" b="0" kern="0" spc="-5" dirty="0">
                <a:latin typeface="+mj-lt"/>
                <a:cs typeface="Lucida Sans"/>
              </a:rPr>
              <a:t>Design the perimeter for a FSR = 15 nm. </a:t>
            </a:r>
          </a:p>
        </p:txBody>
      </p:sp>
      <p:pic>
        <p:nvPicPr>
          <p:cNvPr id="4" name="Imagen 3">
            <a:extLst>
              <a:ext uri="{FF2B5EF4-FFF2-40B4-BE49-F238E27FC236}">
                <a16:creationId xmlns:a16="http://schemas.microsoft.com/office/drawing/2014/main" id="{62155204-D0F6-A561-D0A2-57E19AC06C44}"/>
              </a:ext>
            </a:extLst>
          </p:cNvPr>
          <p:cNvPicPr>
            <a:picLocks noChangeAspect="1"/>
          </p:cNvPicPr>
          <p:nvPr/>
        </p:nvPicPr>
        <p:blipFill>
          <a:blip r:embed="rId3"/>
          <a:stretch>
            <a:fillRect/>
          </a:stretch>
        </p:blipFill>
        <p:spPr>
          <a:xfrm>
            <a:off x="1981200" y="1553439"/>
            <a:ext cx="5155988" cy="2958017"/>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150173" y="5486400"/>
            <a:ext cx="11199530" cy="461665"/>
          </a:xfrm>
          <a:prstGeom prst="rect">
            <a:avLst/>
          </a:prstGeom>
          <a:solidFill>
            <a:schemeClr val="bg1">
              <a:lumMod val="95000"/>
            </a:schemeClr>
          </a:solidFill>
          <a:ln w="28575">
            <a:solidFill>
              <a:srgbClr val="E0700D"/>
            </a:solidFill>
          </a:ln>
        </p:spPr>
        <p:txBody>
          <a:bodyPr wrap="square" rtlCol="0">
            <a:spAutoFit/>
          </a:bodyPr>
          <a:lstStyle/>
          <a:p>
            <a:pPr algn="just"/>
            <a:r>
              <a:rPr lang="es-ES" sz="1200" dirty="0"/>
              <a:t>Las resonancias se clasifican en </a:t>
            </a:r>
            <a:r>
              <a:rPr lang="es-ES" sz="1200" dirty="0" err="1"/>
              <a:t>undercoupling</a:t>
            </a:r>
            <a:r>
              <a:rPr lang="es-ES" sz="1200" dirty="0"/>
              <a:t> (K pequeño, resonancias profundas) y </a:t>
            </a:r>
            <a:r>
              <a:rPr lang="es-ES" sz="1200" dirty="0" err="1"/>
              <a:t>overcoupling</a:t>
            </a:r>
            <a:r>
              <a:rPr lang="es-ES" sz="1200" dirty="0"/>
              <a:t> (K grande, resonancias superficiales). El acoplamiento crítico se consigue con K≈0.1 ya que es donde </a:t>
            </a:r>
            <a:r>
              <a:rPr lang="es-ES" sz="1200" dirty="0" err="1"/>
              <a:t>T_min</a:t>
            </a:r>
            <a:r>
              <a:rPr lang="es-ES" sz="1200" dirty="0"/>
              <a:t> ≈ 0 y el ER es máximo, indicando que las pérdidas del anillo igualan exactamente el coeficiente de acoplamiento.</a:t>
            </a:r>
            <a:endParaRPr lang="en-US" sz="1200" dirty="0">
              <a:latin typeface="Arial" panose="020B0604020202020204" pitchFamily="34" charset="0"/>
              <a:cs typeface="Arial" panose="020B0604020202020204" pitchFamily="34" charset="0"/>
            </a:endParaRPr>
          </a:p>
        </p:txBody>
      </p:sp>
      <p:pic>
        <p:nvPicPr>
          <p:cNvPr id="3" name="Gráfico 2">
            <a:extLst>
              <a:ext uri="{FF2B5EF4-FFF2-40B4-BE49-F238E27FC236}">
                <a16:creationId xmlns:a16="http://schemas.microsoft.com/office/drawing/2014/main" id="{0B245A9E-6C9A-F3A8-E4B7-6615801264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8266F13B-05F1-81DE-B638-66D10EEB9FA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#6a – Effect of K </a:t>
            </a:r>
          </a:p>
          <a:p>
            <a:pPr marL="12700">
              <a:spcBef>
                <a:spcPts val="100"/>
              </a:spcBef>
            </a:pPr>
            <a:r>
              <a:rPr lang="en-US" b="0" kern="0" spc="-5" dirty="0">
                <a:latin typeface="+mj-lt"/>
                <a:cs typeface="Lucida Sans"/>
              </a:rPr>
              <a:t>Change K value between 0.1 and 0.9 in steps of 0.1</a:t>
            </a:r>
          </a:p>
        </p:txBody>
      </p:sp>
      <p:pic>
        <p:nvPicPr>
          <p:cNvPr id="19" name="Imagen 18">
            <a:extLst>
              <a:ext uri="{FF2B5EF4-FFF2-40B4-BE49-F238E27FC236}">
                <a16:creationId xmlns:a16="http://schemas.microsoft.com/office/drawing/2014/main" id="{51799F7D-DF8E-2FBB-7AC8-FBE9D7D91FA3}"/>
              </a:ext>
            </a:extLst>
          </p:cNvPr>
          <p:cNvPicPr>
            <a:picLocks noChangeAspect="1"/>
          </p:cNvPicPr>
          <p:nvPr/>
        </p:nvPicPr>
        <p:blipFill>
          <a:blip r:embed="rId3"/>
          <a:stretch>
            <a:fillRect/>
          </a:stretch>
        </p:blipFill>
        <p:spPr>
          <a:xfrm>
            <a:off x="457201" y="1192651"/>
            <a:ext cx="2743200" cy="1573788"/>
          </a:xfrm>
          <a:prstGeom prst="rect">
            <a:avLst/>
          </a:prstGeom>
        </p:spPr>
      </p:pic>
      <p:pic>
        <p:nvPicPr>
          <p:cNvPr id="21" name="Imagen 20">
            <a:extLst>
              <a:ext uri="{FF2B5EF4-FFF2-40B4-BE49-F238E27FC236}">
                <a16:creationId xmlns:a16="http://schemas.microsoft.com/office/drawing/2014/main" id="{BBC7BC8D-F58E-7D8F-C00E-6541B439A5EC}"/>
              </a:ext>
            </a:extLst>
          </p:cNvPr>
          <p:cNvPicPr>
            <a:picLocks noChangeAspect="1"/>
          </p:cNvPicPr>
          <p:nvPr/>
        </p:nvPicPr>
        <p:blipFill>
          <a:blip r:embed="rId4"/>
          <a:stretch>
            <a:fillRect/>
          </a:stretch>
        </p:blipFill>
        <p:spPr>
          <a:xfrm>
            <a:off x="3200401" y="1192651"/>
            <a:ext cx="2743200" cy="1573788"/>
          </a:xfrm>
          <a:prstGeom prst="rect">
            <a:avLst/>
          </a:prstGeom>
        </p:spPr>
      </p:pic>
      <p:pic>
        <p:nvPicPr>
          <p:cNvPr id="23" name="Imagen 22">
            <a:extLst>
              <a:ext uri="{FF2B5EF4-FFF2-40B4-BE49-F238E27FC236}">
                <a16:creationId xmlns:a16="http://schemas.microsoft.com/office/drawing/2014/main" id="{0F2B24E6-56F8-A64E-A8B5-117C4F04A8C9}"/>
              </a:ext>
            </a:extLst>
          </p:cNvPr>
          <p:cNvPicPr>
            <a:picLocks noChangeAspect="1"/>
          </p:cNvPicPr>
          <p:nvPr/>
        </p:nvPicPr>
        <p:blipFill>
          <a:blip r:embed="rId5"/>
          <a:stretch>
            <a:fillRect/>
          </a:stretch>
        </p:blipFill>
        <p:spPr>
          <a:xfrm>
            <a:off x="5943600" y="1108878"/>
            <a:ext cx="2743201" cy="1573789"/>
          </a:xfrm>
          <a:prstGeom prst="rect">
            <a:avLst/>
          </a:prstGeom>
        </p:spPr>
      </p:pic>
      <p:pic>
        <p:nvPicPr>
          <p:cNvPr id="25" name="Imagen 24">
            <a:extLst>
              <a:ext uri="{FF2B5EF4-FFF2-40B4-BE49-F238E27FC236}">
                <a16:creationId xmlns:a16="http://schemas.microsoft.com/office/drawing/2014/main" id="{BAA81BEB-C0C7-5597-FD60-EEA112324BFB}"/>
              </a:ext>
            </a:extLst>
          </p:cNvPr>
          <p:cNvPicPr>
            <a:picLocks noChangeAspect="1"/>
          </p:cNvPicPr>
          <p:nvPr/>
        </p:nvPicPr>
        <p:blipFill>
          <a:blip r:embed="rId6"/>
          <a:stretch>
            <a:fillRect/>
          </a:stretch>
        </p:blipFill>
        <p:spPr>
          <a:xfrm>
            <a:off x="8784516" y="1090405"/>
            <a:ext cx="2535169" cy="1454440"/>
          </a:xfrm>
          <a:prstGeom prst="rect">
            <a:avLst/>
          </a:prstGeom>
        </p:spPr>
      </p:pic>
      <p:pic>
        <p:nvPicPr>
          <p:cNvPr id="27" name="Imagen 26">
            <a:extLst>
              <a:ext uri="{FF2B5EF4-FFF2-40B4-BE49-F238E27FC236}">
                <a16:creationId xmlns:a16="http://schemas.microsoft.com/office/drawing/2014/main" id="{7E95E483-7E8C-1E39-244E-FEAD799673A2}"/>
              </a:ext>
            </a:extLst>
          </p:cNvPr>
          <p:cNvPicPr>
            <a:picLocks noChangeAspect="1"/>
          </p:cNvPicPr>
          <p:nvPr/>
        </p:nvPicPr>
        <p:blipFill>
          <a:blip r:embed="rId7"/>
          <a:stretch>
            <a:fillRect/>
          </a:stretch>
        </p:blipFill>
        <p:spPr>
          <a:xfrm>
            <a:off x="450275" y="2745657"/>
            <a:ext cx="2743200" cy="1573788"/>
          </a:xfrm>
          <a:prstGeom prst="rect">
            <a:avLst/>
          </a:prstGeom>
        </p:spPr>
      </p:pic>
      <p:pic>
        <p:nvPicPr>
          <p:cNvPr id="29" name="Imagen 28">
            <a:extLst>
              <a:ext uri="{FF2B5EF4-FFF2-40B4-BE49-F238E27FC236}">
                <a16:creationId xmlns:a16="http://schemas.microsoft.com/office/drawing/2014/main" id="{B6D5E755-BA14-91CD-B28C-6E9F43EF7E16}"/>
              </a:ext>
            </a:extLst>
          </p:cNvPr>
          <p:cNvPicPr>
            <a:picLocks noChangeAspect="1"/>
          </p:cNvPicPr>
          <p:nvPr/>
        </p:nvPicPr>
        <p:blipFill>
          <a:blip r:embed="rId8"/>
          <a:stretch>
            <a:fillRect/>
          </a:stretch>
        </p:blipFill>
        <p:spPr>
          <a:xfrm>
            <a:off x="3153861" y="2744048"/>
            <a:ext cx="2743199" cy="1573788"/>
          </a:xfrm>
          <a:prstGeom prst="rect">
            <a:avLst/>
          </a:prstGeom>
        </p:spPr>
      </p:pic>
      <p:pic>
        <p:nvPicPr>
          <p:cNvPr id="31" name="Imagen 30">
            <a:extLst>
              <a:ext uri="{FF2B5EF4-FFF2-40B4-BE49-F238E27FC236}">
                <a16:creationId xmlns:a16="http://schemas.microsoft.com/office/drawing/2014/main" id="{F7375EFA-DBDA-C020-414C-84531D0D02A7}"/>
              </a:ext>
            </a:extLst>
          </p:cNvPr>
          <p:cNvPicPr>
            <a:picLocks noChangeAspect="1"/>
          </p:cNvPicPr>
          <p:nvPr/>
        </p:nvPicPr>
        <p:blipFill>
          <a:blip r:embed="rId9"/>
          <a:stretch>
            <a:fillRect/>
          </a:stretch>
        </p:blipFill>
        <p:spPr>
          <a:xfrm>
            <a:off x="5927080" y="2744048"/>
            <a:ext cx="2743199" cy="1573788"/>
          </a:xfrm>
          <a:prstGeom prst="rect">
            <a:avLst/>
          </a:prstGeom>
        </p:spPr>
      </p:pic>
      <p:pic>
        <p:nvPicPr>
          <p:cNvPr id="33" name="Imagen 32">
            <a:extLst>
              <a:ext uri="{FF2B5EF4-FFF2-40B4-BE49-F238E27FC236}">
                <a16:creationId xmlns:a16="http://schemas.microsoft.com/office/drawing/2014/main" id="{ED752EB8-1830-3DAB-0FB5-B9BDBF62AD21}"/>
              </a:ext>
            </a:extLst>
          </p:cNvPr>
          <p:cNvPicPr>
            <a:picLocks noChangeAspect="1"/>
          </p:cNvPicPr>
          <p:nvPr/>
        </p:nvPicPr>
        <p:blipFill>
          <a:blip r:embed="rId10"/>
          <a:stretch>
            <a:fillRect/>
          </a:stretch>
        </p:blipFill>
        <p:spPr>
          <a:xfrm>
            <a:off x="8640259" y="2682667"/>
            <a:ext cx="2814322" cy="1614591"/>
          </a:xfrm>
          <a:prstGeom prst="rect">
            <a:avLst/>
          </a:prstGeom>
        </p:spPr>
      </p:pic>
      <p:pic>
        <p:nvPicPr>
          <p:cNvPr id="35" name="Imagen 34">
            <a:extLst>
              <a:ext uri="{FF2B5EF4-FFF2-40B4-BE49-F238E27FC236}">
                <a16:creationId xmlns:a16="http://schemas.microsoft.com/office/drawing/2014/main" id="{0B54653C-AB70-A6F7-059D-784053F9EC67}"/>
              </a:ext>
            </a:extLst>
          </p:cNvPr>
          <p:cNvPicPr>
            <a:picLocks noChangeAspect="1"/>
          </p:cNvPicPr>
          <p:nvPr/>
        </p:nvPicPr>
        <p:blipFill>
          <a:blip r:embed="rId11"/>
          <a:stretch>
            <a:fillRect/>
          </a:stretch>
        </p:blipFill>
        <p:spPr>
          <a:xfrm>
            <a:off x="4544112" y="4267240"/>
            <a:ext cx="1828800" cy="1049192"/>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443735" y="5356640"/>
            <a:ext cx="11199530" cy="73866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t>A mayor pérdida las resonancias son menos profundas y el ER disminuye. Con </a:t>
            </a:r>
            <a:r>
              <a:rPr lang="es-ES" sz="1400" dirty="0" err="1"/>
              <a:t>alpha</a:t>
            </a:r>
            <a:r>
              <a:rPr lang="es-ES" sz="1400" dirty="0"/>
              <a:t>=0 dB/cm no hay resonancias visibles. Con </a:t>
            </a:r>
            <a:r>
              <a:rPr lang="es-ES" sz="1400" dirty="0" err="1"/>
              <a:t>alpha</a:t>
            </a:r>
            <a:r>
              <a:rPr lang="es-ES" sz="1400" dirty="0"/>
              <a:t>=1 dB/cm aparecen resonancias muy pronunciadas, cercanas al acoplamiento crítico ya que las pérdidas del anillo se aproximan al coeficiente de acoplamiento K=0.025. A mayor pérdida el anillo entra en </a:t>
            </a:r>
            <a:r>
              <a:rPr lang="es-ES" sz="1400" dirty="0" err="1"/>
              <a:t>overcoupling</a:t>
            </a:r>
            <a:r>
              <a:rPr lang="es-ES" sz="1400" dirty="0"/>
              <a:t> y las resonancias se vuelven más superficiales.</a:t>
            </a:r>
            <a:endParaRPr lang="en-US" sz="1400" dirty="0">
              <a:latin typeface="Arial" panose="020B0604020202020204" pitchFamily="34" charset="0"/>
              <a:cs typeface="Arial" panose="020B0604020202020204" pitchFamily="34" charset="0"/>
            </a:endParaRPr>
          </a:p>
        </p:txBody>
      </p:sp>
      <p:pic>
        <p:nvPicPr>
          <p:cNvPr id="17" name="Gráfico 16">
            <a:extLst>
              <a:ext uri="{FF2B5EF4-FFF2-40B4-BE49-F238E27FC236}">
                <a16:creationId xmlns:a16="http://schemas.microsoft.com/office/drawing/2014/main" id="{16D15CB1-2EB9-A3F2-8611-C524CCD1CAE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989133D6-A9B3-EFEA-2703-51A6BDA0A885}"/>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dirty="0"/>
              <a:t>Learning outcome #6b – E</a:t>
            </a:r>
            <a:r>
              <a:rPr lang="en-US" sz="2500" dirty="0"/>
              <a:t>ffect of loss</a:t>
            </a:r>
            <a:endParaRPr lang="en-US" sz="2500" kern="0" dirty="0"/>
          </a:p>
          <a:p>
            <a:pPr marL="12700">
              <a:spcBef>
                <a:spcPts val="100"/>
              </a:spcBef>
            </a:pPr>
            <a:r>
              <a:rPr lang="en-US" b="0" kern="0" spc="-5" dirty="0">
                <a:latin typeface="+mj-lt"/>
                <a:cs typeface="Lucida Sans"/>
              </a:rPr>
              <a:t>Change losses value between 0 and 8 </a:t>
            </a:r>
            <a:r>
              <a:rPr lang="en-US" b="0" kern="0" spc="-5" dirty="0">
                <a:solidFill>
                  <a:srgbClr val="FF0000"/>
                </a:solidFill>
                <a:latin typeface="+mj-lt"/>
                <a:cs typeface="Lucida Sans"/>
              </a:rPr>
              <a:t>dB/cm </a:t>
            </a:r>
            <a:r>
              <a:rPr lang="en-US" b="0" kern="0" spc="-5" dirty="0">
                <a:latin typeface="+mj-lt"/>
                <a:cs typeface="Lucida Sans"/>
              </a:rPr>
              <a:t>in steps of 1</a:t>
            </a:r>
          </a:p>
        </p:txBody>
      </p:sp>
      <p:pic>
        <p:nvPicPr>
          <p:cNvPr id="3" name="Imagen 2">
            <a:extLst>
              <a:ext uri="{FF2B5EF4-FFF2-40B4-BE49-F238E27FC236}">
                <a16:creationId xmlns:a16="http://schemas.microsoft.com/office/drawing/2014/main" id="{F69616B5-6132-E5D9-60E4-A9D880DD2516}"/>
              </a:ext>
            </a:extLst>
          </p:cNvPr>
          <p:cNvPicPr>
            <a:picLocks noChangeAspect="1"/>
          </p:cNvPicPr>
          <p:nvPr/>
        </p:nvPicPr>
        <p:blipFill>
          <a:blip r:embed="rId3"/>
          <a:stretch>
            <a:fillRect/>
          </a:stretch>
        </p:blipFill>
        <p:spPr>
          <a:xfrm>
            <a:off x="545337" y="1438273"/>
            <a:ext cx="2807463" cy="1610656"/>
          </a:xfrm>
          <a:prstGeom prst="rect">
            <a:avLst/>
          </a:prstGeom>
        </p:spPr>
      </p:pic>
      <p:pic>
        <p:nvPicPr>
          <p:cNvPr id="7" name="Imagen 6">
            <a:extLst>
              <a:ext uri="{FF2B5EF4-FFF2-40B4-BE49-F238E27FC236}">
                <a16:creationId xmlns:a16="http://schemas.microsoft.com/office/drawing/2014/main" id="{895A5B10-0868-88CA-5287-5C8B9355C6B5}"/>
              </a:ext>
            </a:extLst>
          </p:cNvPr>
          <p:cNvPicPr>
            <a:picLocks noChangeAspect="1"/>
          </p:cNvPicPr>
          <p:nvPr/>
        </p:nvPicPr>
        <p:blipFill>
          <a:blip r:embed="rId4"/>
          <a:stretch>
            <a:fillRect/>
          </a:stretch>
        </p:blipFill>
        <p:spPr>
          <a:xfrm>
            <a:off x="3274338" y="1427504"/>
            <a:ext cx="2826235" cy="1621425"/>
          </a:xfrm>
          <a:prstGeom prst="rect">
            <a:avLst/>
          </a:prstGeom>
        </p:spPr>
      </p:pic>
      <p:pic>
        <p:nvPicPr>
          <p:cNvPr id="20" name="Imagen 19">
            <a:extLst>
              <a:ext uri="{FF2B5EF4-FFF2-40B4-BE49-F238E27FC236}">
                <a16:creationId xmlns:a16="http://schemas.microsoft.com/office/drawing/2014/main" id="{1B0BC472-378F-7487-95E9-63092020DE3A}"/>
              </a:ext>
            </a:extLst>
          </p:cNvPr>
          <p:cNvPicPr>
            <a:picLocks noChangeAspect="1"/>
          </p:cNvPicPr>
          <p:nvPr/>
        </p:nvPicPr>
        <p:blipFill>
          <a:blip r:embed="rId5"/>
          <a:stretch>
            <a:fillRect/>
          </a:stretch>
        </p:blipFill>
        <p:spPr>
          <a:xfrm>
            <a:off x="6043500" y="1438273"/>
            <a:ext cx="2685647" cy="1540770"/>
          </a:xfrm>
          <a:prstGeom prst="rect">
            <a:avLst/>
          </a:prstGeom>
        </p:spPr>
      </p:pic>
      <p:pic>
        <p:nvPicPr>
          <p:cNvPr id="22" name="Imagen 21">
            <a:extLst>
              <a:ext uri="{FF2B5EF4-FFF2-40B4-BE49-F238E27FC236}">
                <a16:creationId xmlns:a16="http://schemas.microsoft.com/office/drawing/2014/main" id="{E61BFE02-395E-2B11-8910-80144844AFB2}"/>
              </a:ext>
            </a:extLst>
          </p:cNvPr>
          <p:cNvPicPr>
            <a:picLocks noChangeAspect="1"/>
          </p:cNvPicPr>
          <p:nvPr/>
        </p:nvPicPr>
        <p:blipFill>
          <a:blip r:embed="rId6"/>
          <a:stretch>
            <a:fillRect/>
          </a:stretch>
        </p:blipFill>
        <p:spPr>
          <a:xfrm>
            <a:off x="8791272" y="1438273"/>
            <a:ext cx="2685647" cy="1540770"/>
          </a:xfrm>
          <a:prstGeom prst="rect">
            <a:avLst/>
          </a:prstGeom>
        </p:spPr>
      </p:pic>
      <p:pic>
        <p:nvPicPr>
          <p:cNvPr id="24" name="Imagen 23">
            <a:extLst>
              <a:ext uri="{FF2B5EF4-FFF2-40B4-BE49-F238E27FC236}">
                <a16:creationId xmlns:a16="http://schemas.microsoft.com/office/drawing/2014/main" id="{ECE28008-F6E4-9911-64AB-2602DCBF7731}"/>
              </a:ext>
            </a:extLst>
          </p:cNvPr>
          <p:cNvPicPr>
            <a:picLocks noChangeAspect="1"/>
          </p:cNvPicPr>
          <p:nvPr/>
        </p:nvPicPr>
        <p:blipFill>
          <a:blip r:embed="rId7"/>
          <a:stretch>
            <a:fillRect/>
          </a:stretch>
        </p:blipFill>
        <p:spPr>
          <a:xfrm>
            <a:off x="545337" y="3069972"/>
            <a:ext cx="2290763" cy="1314223"/>
          </a:xfrm>
          <a:prstGeom prst="rect">
            <a:avLst/>
          </a:prstGeom>
        </p:spPr>
      </p:pic>
      <p:pic>
        <p:nvPicPr>
          <p:cNvPr id="26" name="Imagen 25">
            <a:extLst>
              <a:ext uri="{FF2B5EF4-FFF2-40B4-BE49-F238E27FC236}">
                <a16:creationId xmlns:a16="http://schemas.microsoft.com/office/drawing/2014/main" id="{8D1DE58C-AA65-A1AE-80C1-23166BED9265}"/>
              </a:ext>
            </a:extLst>
          </p:cNvPr>
          <p:cNvPicPr>
            <a:picLocks noChangeAspect="1"/>
          </p:cNvPicPr>
          <p:nvPr/>
        </p:nvPicPr>
        <p:blipFill>
          <a:blip r:embed="rId8"/>
          <a:stretch>
            <a:fillRect/>
          </a:stretch>
        </p:blipFill>
        <p:spPr>
          <a:xfrm>
            <a:off x="2863809" y="3025264"/>
            <a:ext cx="2290763" cy="1314223"/>
          </a:xfrm>
          <a:prstGeom prst="rect">
            <a:avLst/>
          </a:prstGeom>
        </p:spPr>
      </p:pic>
      <p:pic>
        <p:nvPicPr>
          <p:cNvPr id="28" name="Imagen 27">
            <a:extLst>
              <a:ext uri="{FF2B5EF4-FFF2-40B4-BE49-F238E27FC236}">
                <a16:creationId xmlns:a16="http://schemas.microsoft.com/office/drawing/2014/main" id="{A07D8BFF-8FF7-3C2C-4586-F5C7A51CA653}"/>
              </a:ext>
            </a:extLst>
          </p:cNvPr>
          <p:cNvPicPr>
            <a:picLocks noChangeAspect="1"/>
          </p:cNvPicPr>
          <p:nvPr/>
        </p:nvPicPr>
        <p:blipFill>
          <a:blip r:embed="rId9"/>
          <a:stretch>
            <a:fillRect/>
          </a:stretch>
        </p:blipFill>
        <p:spPr>
          <a:xfrm>
            <a:off x="5175355" y="3039119"/>
            <a:ext cx="2216046" cy="1271357"/>
          </a:xfrm>
          <a:prstGeom prst="rect">
            <a:avLst/>
          </a:prstGeom>
        </p:spPr>
      </p:pic>
      <p:pic>
        <p:nvPicPr>
          <p:cNvPr id="30" name="Imagen 29">
            <a:extLst>
              <a:ext uri="{FF2B5EF4-FFF2-40B4-BE49-F238E27FC236}">
                <a16:creationId xmlns:a16="http://schemas.microsoft.com/office/drawing/2014/main" id="{44331CBC-E790-2206-6A72-FE22AAB575C0}"/>
              </a:ext>
            </a:extLst>
          </p:cNvPr>
          <p:cNvPicPr>
            <a:picLocks noChangeAspect="1"/>
          </p:cNvPicPr>
          <p:nvPr/>
        </p:nvPicPr>
        <p:blipFill>
          <a:blip r:embed="rId10"/>
          <a:stretch>
            <a:fillRect/>
          </a:stretch>
        </p:blipFill>
        <p:spPr>
          <a:xfrm>
            <a:off x="7372469" y="3045633"/>
            <a:ext cx="2204692" cy="1264843"/>
          </a:xfrm>
          <a:prstGeom prst="rect">
            <a:avLst/>
          </a:prstGeom>
        </p:spPr>
      </p:pic>
      <p:pic>
        <p:nvPicPr>
          <p:cNvPr id="32" name="Imagen 31">
            <a:extLst>
              <a:ext uri="{FF2B5EF4-FFF2-40B4-BE49-F238E27FC236}">
                <a16:creationId xmlns:a16="http://schemas.microsoft.com/office/drawing/2014/main" id="{CFD4AACD-E024-9CC2-C7A8-91D5EED0ADF8}"/>
              </a:ext>
            </a:extLst>
          </p:cNvPr>
          <p:cNvPicPr>
            <a:picLocks noChangeAspect="1"/>
          </p:cNvPicPr>
          <p:nvPr/>
        </p:nvPicPr>
        <p:blipFill>
          <a:blip r:embed="rId11"/>
          <a:stretch>
            <a:fillRect/>
          </a:stretch>
        </p:blipFill>
        <p:spPr>
          <a:xfrm>
            <a:off x="9631432" y="3063077"/>
            <a:ext cx="2204692" cy="1264844"/>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2444</TotalTime>
  <Words>1098</Words>
  <Application>Microsoft Office PowerPoint</Application>
  <PresentationFormat>Panorámica</PresentationFormat>
  <Paragraphs>111</Paragraphs>
  <Slides>11</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Aptos</vt:lpstr>
      <vt:lpstr>Arial</vt:lpstr>
      <vt:lpstr>Calibri</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Marcos Estañ Lloret</cp:lastModifiedBy>
  <cp:revision>15</cp:revision>
  <dcterms:created xsi:type="dcterms:W3CDTF">2025-01-27T02:46:57Z</dcterms:created>
  <dcterms:modified xsi:type="dcterms:W3CDTF">2026-05-29T15:29:32Z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